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Pretendard Black" panose="020B0600000101010101" charset="-127"/>
      <p:bold r:id="rId23"/>
    </p:embeddedFont>
    <p:embeddedFont>
      <p:font typeface="Pretendard Bold" panose="020B0600000101010101" charset="-127"/>
      <p:bold r:id="rId24"/>
    </p:embeddedFont>
    <p:embeddedFont>
      <p:font typeface="Pretendard ExtraLight" panose="020B0600000101010101" charset="-127"/>
      <p:regular r:id="rId25"/>
    </p:embeddedFont>
    <p:embeddedFont>
      <p:font typeface="Pretendard Light" panose="020B0600000101010101" charset="-127"/>
      <p:regular r:id="rId26"/>
    </p:embeddedFont>
    <p:embeddedFont>
      <p:font typeface="Pretendard Regular" panose="020B0600000101010101" charset="-127"/>
      <p:regular r:id="rId27"/>
    </p:embeddedFont>
    <p:embeddedFont>
      <p:font typeface="Pretendard SemiBold" panose="020B0600000101010101" charset="-1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21.png"/><Relationship Id="rId3" Type="http://schemas.openxmlformats.org/officeDocument/2006/relationships/image" Target="../media/image11.png"/><Relationship Id="rId21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5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29.png"/><Relationship Id="rId23" Type="http://schemas.openxmlformats.org/officeDocument/2006/relationships/image" Target="../media/image18.png"/><Relationship Id="rId10" Type="http://schemas.openxmlformats.org/officeDocument/2006/relationships/image" Target="../media/image24.png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17.png"/><Relationship Id="rId27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18.png"/><Relationship Id="rId3" Type="http://schemas.openxmlformats.org/officeDocument/2006/relationships/image" Target="../media/image11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37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35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34.png"/><Relationship Id="rId14" Type="http://schemas.openxmlformats.org/officeDocument/2006/relationships/image" Target="../media/image14.png"/><Relationship Id="rId22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18.png"/><Relationship Id="rId3" Type="http://schemas.openxmlformats.org/officeDocument/2006/relationships/image" Target="../media/image11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17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47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23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14.png"/><Relationship Id="rId22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14.png"/><Relationship Id="rId3" Type="http://schemas.openxmlformats.org/officeDocument/2006/relationships/image" Target="../media/image11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45.png"/><Relationship Id="rId23" Type="http://schemas.openxmlformats.org/officeDocument/2006/relationships/image" Target="../media/image20.png"/><Relationship Id="rId10" Type="http://schemas.openxmlformats.org/officeDocument/2006/relationships/image" Target="../media/image41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16.png"/><Relationship Id="rId22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14.png"/><Relationship Id="rId3" Type="http://schemas.openxmlformats.org/officeDocument/2006/relationships/image" Target="../media/image11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49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45.png"/><Relationship Id="rId23" Type="http://schemas.openxmlformats.org/officeDocument/2006/relationships/image" Target="../media/image20.png"/><Relationship Id="rId10" Type="http://schemas.openxmlformats.org/officeDocument/2006/relationships/image" Target="../media/image41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16.png"/><Relationship Id="rId22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14.png"/><Relationship Id="rId3" Type="http://schemas.openxmlformats.org/officeDocument/2006/relationships/image" Target="../media/image11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50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45.png"/><Relationship Id="rId23" Type="http://schemas.openxmlformats.org/officeDocument/2006/relationships/image" Target="../media/image20.png"/><Relationship Id="rId10" Type="http://schemas.openxmlformats.org/officeDocument/2006/relationships/image" Target="../media/image41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16.png"/><Relationship Id="rId22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14.png"/><Relationship Id="rId3" Type="http://schemas.openxmlformats.org/officeDocument/2006/relationships/image" Target="../media/image11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51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45.png"/><Relationship Id="rId23" Type="http://schemas.openxmlformats.org/officeDocument/2006/relationships/image" Target="../media/image20.png"/><Relationship Id="rId10" Type="http://schemas.openxmlformats.org/officeDocument/2006/relationships/image" Target="../media/image41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16.png"/><Relationship Id="rId22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14.png"/><Relationship Id="rId3" Type="http://schemas.openxmlformats.org/officeDocument/2006/relationships/image" Target="../media/image11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52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45.png"/><Relationship Id="rId23" Type="http://schemas.openxmlformats.org/officeDocument/2006/relationships/image" Target="../media/image20.png"/><Relationship Id="rId10" Type="http://schemas.openxmlformats.org/officeDocument/2006/relationships/image" Target="../media/image41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16.png"/><Relationship Id="rId22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6.png"/><Relationship Id="rId18" Type="http://schemas.openxmlformats.org/officeDocument/2006/relationships/image" Target="../media/image18.png"/><Relationship Id="rId3" Type="http://schemas.openxmlformats.org/officeDocument/2006/relationships/image" Target="../media/image11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56.png"/><Relationship Id="rId10" Type="http://schemas.openxmlformats.org/officeDocument/2006/relationships/image" Target="../media/image41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54.png"/><Relationship Id="rId14" Type="http://schemas.openxmlformats.org/officeDocument/2006/relationships/image" Target="../media/image45.png"/><Relationship Id="rId22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6.png"/><Relationship Id="rId18" Type="http://schemas.openxmlformats.org/officeDocument/2006/relationships/image" Target="../media/image15.png"/><Relationship Id="rId3" Type="http://schemas.openxmlformats.org/officeDocument/2006/relationships/image" Target="../media/image11.png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57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55.png"/><Relationship Id="rId23" Type="http://schemas.openxmlformats.org/officeDocument/2006/relationships/image" Target="../media/image21.png"/><Relationship Id="rId10" Type="http://schemas.openxmlformats.org/officeDocument/2006/relationships/image" Target="../media/image41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54.png"/><Relationship Id="rId14" Type="http://schemas.openxmlformats.org/officeDocument/2006/relationships/image" Target="../media/image45.png"/><Relationship Id="rId22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6.png"/><Relationship Id="rId18" Type="http://schemas.openxmlformats.org/officeDocument/2006/relationships/image" Target="../media/image15.png"/><Relationship Id="rId3" Type="http://schemas.openxmlformats.org/officeDocument/2006/relationships/image" Target="../media/image11.png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58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24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55.png"/><Relationship Id="rId23" Type="http://schemas.openxmlformats.org/officeDocument/2006/relationships/image" Target="../media/image21.png"/><Relationship Id="rId10" Type="http://schemas.openxmlformats.org/officeDocument/2006/relationships/image" Target="../media/image41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54.png"/><Relationship Id="rId14" Type="http://schemas.openxmlformats.org/officeDocument/2006/relationships/image" Target="../media/image45.png"/><Relationship Id="rId22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55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42.png"/><Relationship Id="rId19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1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6.png"/><Relationship Id="rId1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20.png"/><Relationship Id="rId7" Type="http://schemas.openxmlformats.org/officeDocument/2006/relationships/image" Target="../media/image4.png"/><Relationship Id="rId12" Type="http://schemas.openxmlformats.org/officeDocument/2006/relationships/image" Target="../media/image42.png"/><Relationship Id="rId17" Type="http://schemas.openxmlformats.org/officeDocument/2006/relationships/image" Target="../media/image15.png"/><Relationship Id="rId2" Type="http://schemas.microsoft.com/office/2007/relationships/media" Target="../media/media1.mp4"/><Relationship Id="rId16" Type="http://schemas.openxmlformats.org/officeDocument/2006/relationships/image" Target="../media/image14.png"/><Relationship Id="rId20" Type="http://schemas.openxmlformats.org/officeDocument/2006/relationships/image" Target="../media/image19.png"/><Relationship Id="rId1" Type="http://schemas.openxmlformats.org/officeDocument/2006/relationships/video" Target="NULL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41.png"/><Relationship Id="rId5" Type="http://schemas.openxmlformats.org/officeDocument/2006/relationships/image" Target="../media/image11.png"/><Relationship Id="rId15" Type="http://schemas.openxmlformats.org/officeDocument/2006/relationships/image" Target="../media/image60.png"/><Relationship Id="rId23" Type="http://schemas.openxmlformats.org/officeDocument/2006/relationships/image" Target="../media/image10.png"/><Relationship Id="rId10" Type="http://schemas.openxmlformats.org/officeDocument/2006/relationships/image" Target="../media/image59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55.png"/><Relationship Id="rId22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6.png"/><Relationship Id="rId1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20.png"/><Relationship Id="rId7" Type="http://schemas.openxmlformats.org/officeDocument/2006/relationships/image" Target="../media/image4.png"/><Relationship Id="rId12" Type="http://schemas.openxmlformats.org/officeDocument/2006/relationships/image" Target="../media/image42.png"/><Relationship Id="rId17" Type="http://schemas.openxmlformats.org/officeDocument/2006/relationships/image" Target="../media/image15.png"/><Relationship Id="rId2" Type="http://schemas.microsoft.com/office/2007/relationships/media" Target="../media/media2.mp4"/><Relationship Id="rId16" Type="http://schemas.openxmlformats.org/officeDocument/2006/relationships/image" Target="../media/image14.png"/><Relationship Id="rId20" Type="http://schemas.openxmlformats.org/officeDocument/2006/relationships/image" Target="../media/image19.png"/><Relationship Id="rId1" Type="http://schemas.openxmlformats.org/officeDocument/2006/relationships/video" Target="NULL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41.png"/><Relationship Id="rId5" Type="http://schemas.openxmlformats.org/officeDocument/2006/relationships/image" Target="../media/image11.png"/><Relationship Id="rId15" Type="http://schemas.openxmlformats.org/officeDocument/2006/relationships/image" Target="../media/image61.png"/><Relationship Id="rId23" Type="http://schemas.openxmlformats.org/officeDocument/2006/relationships/image" Target="../media/image10.png"/><Relationship Id="rId10" Type="http://schemas.openxmlformats.org/officeDocument/2006/relationships/image" Target="../media/image59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55.png"/><Relationship Id="rId22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55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42.png"/><Relationship Id="rId19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1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18.png"/><Relationship Id="rId1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17" Type="http://schemas.openxmlformats.org/officeDocument/2006/relationships/image" Target="../media/image64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image" Target="../media/image11.png"/><Relationship Id="rId21" Type="http://schemas.openxmlformats.org/officeDocument/2006/relationships/image" Target="../media/image70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2" Type="http://schemas.openxmlformats.org/officeDocument/2006/relationships/image" Target="../media/image1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24" Type="http://schemas.openxmlformats.org/officeDocument/2006/relationships/image" Target="../media/image73.png"/><Relationship Id="rId5" Type="http://schemas.openxmlformats.org/officeDocument/2006/relationships/image" Target="../media/image4.png"/><Relationship Id="rId15" Type="http://schemas.openxmlformats.org/officeDocument/2006/relationships/image" Target="../media/image21.png"/><Relationship Id="rId23" Type="http://schemas.openxmlformats.org/officeDocument/2006/relationships/image" Target="../media/image72.png"/><Relationship Id="rId28" Type="http://schemas.openxmlformats.org/officeDocument/2006/relationships/image" Target="../media/image10.png"/><Relationship Id="rId10" Type="http://schemas.openxmlformats.org/officeDocument/2006/relationships/image" Target="../media/image16.png"/><Relationship Id="rId19" Type="http://schemas.openxmlformats.org/officeDocument/2006/relationships/image" Target="../media/image68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18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8572500"/>
            <a:ext cx="17233900" cy="1181100"/>
          </a:xfrm>
          <a:prstGeom prst="rect">
            <a:avLst/>
          </a:prstGeom>
          <a:effectLst>
            <a:outerShdw blurRad="62864" dist="9110" dir="5400000">
              <a:srgbClr val="000000">
                <a:alpha val="12000"/>
              </a:srgbClr>
            </a:outerShdw>
          </a:effectLst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74800" y="4381500"/>
            <a:ext cx="13411200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9500" b="0" i="0" u="none" strike="noStrike" spc="-100">
                <a:solidFill>
                  <a:srgbClr val="000000"/>
                </a:solidFill>
                <a:ea typeface="Pretendard Bold"/>
              </a:rPr>
              <a:t>객제지향언어</a:t>
            </a:r>
            <a:r>
              <a:rPr lang="en-US" sz="95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500" b="0" i="0" u="none" strike="noStrike" spc="-100">
                <a:solidFill>
                  <a:srgbClr val="000000"/>
                </a:solidFill>
                <a:ea typeface="Pretendard Bold"/>
              </a:rPr>
              <a:t>자바</a:t>
            </a:r>
            <a:r>
              <a:rPr lang="en-US" sz="95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500" b="0" i="0" u="none" strike="noStrike" spc="-100">
                <a:solidFill>
                  <a:srgbClr val="000000"/>
                </a:solidFill>
                <a:ea typeface="Pretendard Bold"/>
              </a:rPr>
              <a:t>프로젝트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50100" y="8966200"/>
            <a:ext cx="40005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940"/>
              </a:lnSpc>
            </a:pPr>
            <a:r>
              <a:rPr lang="en-US" sz="2100" b="0" i="0" u="none" strike="noStrike" spc="700">
                <a:solidFill>
                  <a:srgbClr val="CCCBCA"/>
                </a:solidFill>
                <a:latin typeface="Pretendard Bold"/>
              </a:rPr>
              <a:t>Qube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13"/>
          <p:cNvSpPr txBox="1"/>
          <p:nvPr/>
        </p:nvSpPr>
        <p:spPr>
          <a:xfrm>
            <a:off x="2273300" y="8940800"/>
            <a:ext cx="21082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5C5C5C"/>
                </a:solidFill>
                <a:latin typeface="Pretendard Regular"/>
              </a:rPr>
              <a:t>2025.06.23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" y="8940800"/>
            <a:ext cx="419100" cy="419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741400" y="8940800"/>
            <a:ext cx="3606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5C5C5C"/>
                </a:solidFill>
                <a:ea typeface="Pretendard Regular"/>
              </a:rPr>
              <a:t>융합보안학과</a:t>
            </a:r>
            <a:r>
              <a:rPr lang="en-US" sz="2300" b="0" i="0" u="none" strike="noStrike">
                <a:solidFill>
                  <a:srgbClr val="5C5C5C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5C5C5C"/>
                </a:solidFill>
                <a:ea typeface="Pretendard Regular"/>
              </a:rPr>
              <a:t>유예지</a:t>
            </a:r>
            <a:r>
              <a:rPr lang="en-US" sz="2300" b="0" i="0" u="none" strike="noStrike">
                <a:solidFill>
                  <a:srgbClr val="5C5C5C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5C5C5C"/>
                </a:solidFill>
                <a:ea typeface="Pretendard Regular"/>
              </a:rPr>
              <a:t>임다은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9100" y="8940800"/>
            <a:ext cx="406400" cy="406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" y="3136900"/>
            <a:ext cx="1282700" cy="1028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111500" y="3302000"/>
            <a:ext cx="789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100" b="0" i="0" u="none" strike="noStrike" spc="100">
                <a:solidFill>
                  <a:srgbClr val="B5B5B5"/>
                </a:solidFill>
                <a:latin typeface="Pretendard Regular"/>
              </a:rPr>
              <a:t>Askoo In </a:t>
            </a:r>
            <a:r>
              <a:rPr lang="ko-KR" sz="4100" b="0" i="0" u="none" strike="noStrike" spc="100">
                <a:solidFill>
                  <a:srgbClr val="B5B5B5"/>
                </a:solidFill>
                <a:ea typeface="Pretendard Regular"/>
              </a:rPr>
              <a:t>앱</a:t>
            </a:r>
            <a:r>
              <a:rPr lang="en-US" sz="4100" b="0" i="0" u="none" strike="noStrike" spc="100">
                <a:solidFill>
                  <a:srgbClr val="B5B5B5"/>
                </a:solidFill>
                <a:latin typeface="Pretendard Regular"/>
              </a:rPr>
              <a:t> </a:t>
            </a:r>
            <a:r>
              <a:rPr lang="ko-KR" sz="4100" b="0" i="0" u="none" strike="noStrike" spc="100">
                <a:solidFill>
                  <a:srgbClr val="B5B5B5"/>
                </a:solidFill>
                <a:ea typeface="Pretendard Regular"/>
              </a:rPr>
              <a:t>개발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366000" y="5295900"/>
            <a:ext cx="39116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발표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진행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순서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400" y="5334000"/>
            <a:ext cx="1803400" cy="508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37200" y="53721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66000" y="6311900"/>
            <a:ext cx="3911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배경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소개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400" y="6362700"/>
            <a:ext cx="1803400" cy="508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537200" y="64008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66000" y="7366000"/>
            <a:ext cx="3911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목표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목적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400" y="7416800"/>
            <a:ext cx="1803400" cy="508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537200" y="74549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66000" y="8407400"/>
            <a:ext cx="39116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설명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400" y="8445500"/>
            <a:ext cx="1803400" cy="508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537200" y="84836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35000" y="5270500"/>
            <a:ext cx="39116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시큐어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코딩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1400" y="5334000"/>
            <a:ext cx="1803400" cy="508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1493500" y="53594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35000" y="6311900"/>
            <a:ext cx="39116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앱</a:t>
            </a:r>
            <a:r>
              <a:rPr lang="en-US" sz="3300" b="0" i="0" u="none" strike="noStrike" spc="-2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시연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1400" y="6362700"/>
            <a:ext cx="1803400" cy="508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1493500" y="64008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35000" y="7353300"/>
            <a:ext cx="39116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940"/>
              </a:lnSpc>
            </a:pPr>
            <a:r>
              <a:rPr lang="ko-KR" sz="3300" b="0" i="0" u="none" strike="noStrike" spc="-200">
                <a:solidFill>
                  <a:srgbClr val="000000"/>
                </a:solidFill>
                <a:ea typeface="Pretendard Regular"/>
              </a:rPr>
              <a:t>마무리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1400" y="7416800"/>
            <a:ext cx="1803400" cy="5080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1493500" y="7454900"/>
            <a:ext cx="153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ExtraLight"/>
              </a:rPr>
              <a:t>Chapter.7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73800" y="1447800"/>
            <a:ext cx="7518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 dirty="0">
                <a:solidFill>
                  <a:srgbClr val="000000"/>
                </a:solidFill>
                <a:ea typeface="Pretendard Bold"/>
              </a:rPr>
              <a:t>발표</a:t>
            </a:r>
            <a:r>
              <a:rPr lang="en-US" sz="4800" b="0" i="0" u="none" strike="noStrike" spc="-100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 dirty="0">
                <a:solidFill>
                  <a:srgbClr val="000000"/>
                </a:solidFill>
                <a:ea typeface="Pretendard Bold"/>
              </a:rPr>
              <a:t>진행</a:t>
            </a:r>
            <a:r>
              <a:rPr lang="en-US" sz="4800" b="0" i="0" u="none" strike="noStrike" spc="-100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 dirty="0">
                <a:solidFill>
                  <a:srgbClr val="000000"/>
                </a:solidFill>
                <a:ea typeface="Pretendard Bold"/>
              </a:rPr>
              <a:t>순서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0" y="1308100"/>
            <a:ext cx="1117600" cy="11176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순서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73800" y="1447800"/>
            <a:ext cx="10312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프로젝트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시작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배경은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?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0800" y="3568700"/>
            <a:ext cx="6019800" cy="119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3700" y="3644900"/>
            <a:ext cx="1117600" cy="1117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591300" y="3962400"/>
            <a:ext cx="4457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학생들이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수업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시간에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대답을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안해요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0800" y="4927600"/>
            <a:ext cx="6731000" cy="119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0200" y="5041900"/>
            <a:ext cx="1206500" cy="107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654800" y="5308600"/>
            <a:ext cx="47879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사람이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많은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수업은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대답하기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눈치보여요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0800" y="7442200"/>
            <a:ext cx="11861800" cy="1536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15700" y="3568700"/>
            <a:ext cx="5664200" cy="1193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3017500" y="3771900"/>
            <a:ext cx="34925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학생들이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궁금한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것이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있어도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바로바로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질문하지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않아요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59700" y="7670800"/>
            <a:ext cx="66040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sz="3300" b="0" i="0" u="none" strike="noStrike">
                <a:solidFill>
                  <a:srgbClr val="FFFEFD"/>
                </a:solidFill>
                <a:ea typeface="Pretendard SemiBold"/>
              </a:rPr>
              <a:t>실시간</a:t>
            </a:r>
            <a:r>
              <a:rPr lang="en-US" sz="3300" b="0" i="0" u="none" strike="noStrike">
                <a:solidFill>
                  <a:srgbClr val="FFFEFD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FFFEFD"/>
                </a:solidFill>
                <a:ea typeface="Pretendard SemiBold"/>
              </a:rPr>
              <a:t>질의응답</a:t>
            </a:r>
            <a:r>
              <a:rPr lang="en-US" sz="3300" b="0" i="0" u="none" strike="noStrike">
                <a:solidFill>
                  <a:srgbClr val="FFFEFD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FFFEFD"/>
                </a:solidFill>
                <a:ea typeface="Pretendard SemiBold"/>
              </a:rPr>
              <a:t>앱</a:t>
            </a:r>
            <a:r>
              <a:rPr lang="en-US" sz="3300" b="0" i="0" u="none" strike="noStrike">
                <a:solidFill>
                  <a:srgbClr val="FFFEFD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FFFEFD"/>
                </a:solidFill>
                <a:ea typeface="Pretendard SemiBold"/>
              </a:rPr>
              <a:t>개발</a:t>
            </a:r>
            <a:r>
              <a:rPr lang="en-US" sz="3300" b="0" i="0" u="none" strike="noStrike">
                <a:solidFill>
                  <a:srgbClr val="FFFEFD"/>
                </a:solidFill>
                <a:latin typeface="Pretendard SemiBold"/>
              </a:rPr>
              <a:t> !!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02200" y="8267700"/>
            <a:ext cx="121920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말로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질문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/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대답하기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어려웠던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것을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채팅으로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!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질문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/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대답하는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것에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눈치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보는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학생들을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위해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EFD"/>
                </a:solidFill>
                <a:ea typeface="Pretendard Light"/>
              </a:rPr>
              <a:t>익명으로</a:t>
            </a:r>
            <a:r>
              <a:rPr lang="en-US" sz="2100" b="0" i="0" u="none" strike="noStrike">
                <a:solidFill>
                  <a:srgbClr val="FFFEFD"/>
                </a:solidFill>
                <a:latin typeface="Pretendard Light"/>
              </a:rPr>
              <a:t>!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14200" y="4927600"/>
            <a:ext cx="4965700" cy="1193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95100" y="3619500"/>
            <a:ext cx="1143000" cy="1143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81600" y="6769100"/>
            <a:ext cx="4483100" cy="1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09500" y="6769100"/>
            <a:ext cx="4483100" cy="12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30800" y="1384300"/>
            <a:ext cx="1054100" cy="10541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3246100" y="5130800"/>
            <a:ext cx="36957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흐름을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끊을까봐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수업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중에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lvl="0" algn="l">
              <a:lnSpc>
                <a:spcPct val="10872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질문할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타이밍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잡기가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어려워요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77400" y="6553200"/>
            <a:ext cx="2819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lack"/>
              </a:rPr>
              <a:t>How to solve?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66600" y="4927600"/>
            <a:ext cx="1193800" cy="11938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소개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9271000" y="2794000"/>
            <a:ext cx="35560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lack"/>
              </a:rPr>
              <a:t>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0800" y="3530600"/>
            <a:ext cx="11861800" cy="182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556500" y="4445000"/>
            <a:ext cx="127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0800" y="5638800"/>
            <a:ext cx="5842000" cy="359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8000" y="6680200"/>
            <a:ext cx="48514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382000" y="3860800"/>
            <a:ext cx="8496300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5369"/>
              </a:lnSpc>
              <a:buClr>
                <a:srgbClr val="FFFFFF"/>
              </a:buClr>
              <a:buFont typeface="Arial"/>
              <a:buChar char="●"/>
            </a:pP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교수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-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학생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간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실시간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소통을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가능하게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하는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앱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개발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  </a:t>
            </a:r>
          </a:p>
          <a:p>
            <a:pPr marL="342900" lvl="0" indent="-342900" algn="l">
              <a:lnSpc>
                <a:spcPct val="115369"/>
              </a:lnSpc>
              <a:buClr>
                <a:srgbClr val="FFFFFF"/>
              </a:buClr>
              <a:buFont typeface="Arial"/>
              <a:buChar char="●"/>
            </a:pP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보안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전공자로서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기본적인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보안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요소도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고려한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앱</a:t>
            </a:r>
            <a:r>
              <a:rPr lang="en-US" sz="3100" b="0" i="0" u="none" strike="noStrike">
                <a:solidFill>
                  <a:srgbClr val="FFFFFF"/>
                </a:solidFill>
                <a:latin typeface="Pretendard ExtraLight"/>
              </a:rPr>
              <a:t> </a:t>
            </a:r>
            <a:r>
              <a:rPr lang="ko-KR" sz="3100" b="0" i="0" u="none" strike="noStrike">
                <a:solidFill>
                  <a:srgbClr val="FFFFFF"/>
                </a:solidFill>
                <a:ea typeface="Pretendard ExtraLight"/>
              </a:rPr>
              <a:t>설계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5400" y="4102100"/>
            <a:ext cx="13335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Black"/>
              </a:rPr>
              <a:t>Goals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13400" y="5956300"/>
            <a:ext cx="48133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사용자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관점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목표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4200" y="6985000"/>
            <a:ext cx="4749800" cy="238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질문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/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답변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반영</a:t>
            </a:r>
          </a:p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익명으로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부담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없이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질문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가능</a:t>
            </a:r>
          </a:p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교수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전용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(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질문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고정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/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삭제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)</a:t>
            </a:r>
          </a:p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직관적인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UI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사용성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강화</a:t>
            </a:r>
          </a:p>
          <a:p>
            <a:pPr lvl="0" algn="l">
              <a:lnSpc>
                <a:spcPct val="147740"/>
              </a:lnSpc>
            </a:pPr>
            <a:endParaRPr lang="ko-KR" sz="2200" b="0" i="0" u="none" strike="noStrike">
              <a:solidFill>
                <a:srgbClr val="000000"/>
              </a:solidFill>
              <a:ea typeface="Pretendard ExtraLight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7900" y="5638800"/>
            <a:ext cx="5842000" cy="3594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95100" y="6680200"/>
            <a:ext cx="4851400" cy="12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7700" y="4152900"/>
            <a:ext cx="508000" cy="508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1633200" y="5956300"/>
            <a:ext cx="48133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보안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관점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목표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45900" y="6731000"/>
            <a:ext cx="4902200" cy="238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직접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해킹을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통해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취약점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발견</a:t>
            </a:r>
          </a:p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발견한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취약점을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수정을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통해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패치</a:t>
            </a:r>
          </a:p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  <a:p>
            <a:pPr lvl="0" algn="l">
              <a:lnSpc>
                <a:spcPct val="147740"/>
              </a:lnSpc>
            </a:pPr>
            <a:r>
              <a:rPr lang="en-US" sz="2200" b="0" i="0" u="none" strike="noStrike">
                <a:solidFill>
                  <a:srgbClr val="000000"/>
                </a:solidFill>
                <a:ea typeface="Pretendard ExtraLight"/>
              </a:rPr>
              <a:t>✔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해시함수로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익명성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보장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욕설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검증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필터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비밀번호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aes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암호화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ExtraLight"/>
              </a:rPr>
              <a:t>구현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3800" y="1447800"/>
            <a:ext cx="70866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목표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목적은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?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600" y="1409700"/>
            <a:ext cx="901700" cy="889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목적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45593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2806700"/>
            <a:ext cx="4025900" cy="632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261100" y="2476500"/>
            <a:ext cx="1790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31400" y="2806700"/>
            <a:ext cx="2921000" cy="63246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83800" y="3073400"/>
            <a:ext cx="2628900" cy="5829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3335000" y="3022600"/>
            <a:ext cx="3327400" cy="600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//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학생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로그인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 (Firebase Email + Password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사용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String email = id + "@askoo.dev";  // Firebase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에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등록된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 ID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기반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이메일</a:t>
            </a: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F7F6F5"/>
                </a:solidFill>
                <a:ea typeface="Pretendard Regular"/>
              </a:rPr>
              <a:t>구성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auth.signInWithEmailAndPassword(email, pw)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.addOnSuccessListener(result -&gt;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Toast.makeText(this, "Welcome, Student!", Toast.LENGTH_SHORT).show();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Intent it = new Intent(this, JoinRoomActivity.class);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it.putExtra("username", id);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it.putExtra("isProfessor", false);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startActivity(it);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finish();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})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.addOnFailureListener(e -&gt;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Toast.makeText(this, "Oops! That username or password doesn't seem right.", Toast.LENGTH_SHORT).show();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});</a:t>
            </a:r>
          </a:p>
          <a:p>
            <a:pPr lvl="0" algn="l">
              <a:lnSpc>
                <a:spcPct val="99600"/>
              </a:lnSpc>
            </a:pPr>
            <a:endParaRPr lang="en-US" sz="15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500" b="0" i="0" u="none" strike="noStrike">
              <a:solidFill>
                <a:srgbClr val="F7F6F5"/>
              </a:solidFill>
              <a:latin typeface="Pretendard Regular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397500" y="3594100"/>
            <a:ext cx="4419600" cy="499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professor(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student(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하나를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RadioButton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선택해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로그인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하드코딩된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ID/PW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인증되며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Firebase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이메일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회원가입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방식을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하단의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Create a new account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버튼을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ID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비밀번호를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입력하여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회원가입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권한에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따라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이후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구조와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기능이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달라집니다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45593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2806700"/>
            <a:ext cx="4025900" cy="632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생성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입장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2806700"/>
            <a:ext cx="2921000" cy="6324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5700" y="2882900"/>
            <a:ext cx="2705100" cy="617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271500" y="3086100"/>
            <a:ext cx="3454400" cy="613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@Override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protected void onCreate(Bundle savedInstanceState)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super.onCreate(savedInstanceState);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setContentView(R.layout.activity_create_room);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Intent it = getIntent();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username    = it.getStringExtra("username");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isProfessor = it.getBooleanExtra("isProfessor", true); 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editRoomCode   = findViewById(R.id.editRoomCode);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btnCreateRoom  = findViewById(R.id.btnCreateRoom);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btnJoinExisting= findViewById(R.id.btnJoinExistingRoom);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btnCreateRoom.setOnClickListener(v -&gt; createRoom());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btnJoinExisting.setOnClickListener(v -&gt; goToJoinRoom());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}</a:t>
            </a:r>
          </a:p>
          <a:p>
            <a:pPr lvl="0" algn="l">
              <a:lnSpc>
                <a:spcPct val="99600"/>
              </a:lnSpc>
            </a:pPr>
            <a:endParaRPr lang="en-US" sz="1500" b="0" i="0" u="none" strike="noStrike">
              <a:solidFill>
                <a:srgbClr val="F7F6F5"/>
              </a:solidFill>
              <a:latin typeface="Pretendard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397500" y="3683000"/>
            <a:ext cx="4419600" cy="480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로그인한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사용자만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방생성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Create Room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버튼을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누르면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자동으로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입장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Join Existing Room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버튼을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누르면</a:t>
            </a:r>
          </a:p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이미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만들어진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참여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생성된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Firebase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학생들은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입장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덕분에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수업별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방을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구분하여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관리할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있습니다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45593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2806700"/>
            <a:ext cx="4025900" cy="632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2806700"/>
            <a:ext cx="2921000" cy="6324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0" y="2882900"/>
            <a:ext cx="2692400" cy="617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119100" y="3073400"/>
            <a:ext cx="3759200" cy="577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super(v);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ivAvatar            = v.findViewById(R.id.ivAvatar);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txtAuthor           = v.findViewById(R.id.textAuthor);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txtContent          = v.findViewById(R.id.textContent);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txtLikeCount        = v.findViewById(R.id.txtLikeCountQuestion);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btnDel              = v.findViewById(R.id.btnDeleteQuestion);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btnPin              = v.findViewById(R.id.btnPinQuestion);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btnLike             = v.findViewById(R.id.btnLikeQuestion);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btnToggleReplies    = v.findViewById(R.id.btnToggleReplies);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replyContainer      = v.findViewById(R.id.replyContainer);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replyInputContainer = v.findViewById(R.id.replyInputContainer);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editReply           = v.findViewById(R.id.editReply);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btnSubmitReply      = v.findViewById(R.id.btnSubmitReply);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97500" y="3683000"/>
            <a:ext cx="4419600" cy="480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상단에는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ID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(Professor)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표시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질문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답변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탭에서는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학생들이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올린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질문을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실시간으로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: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삭제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아이콘으로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상단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고정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좋아요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본인이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연한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회색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배경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표시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실명화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질문은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상단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고정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좋아요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최신순으로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정렬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45593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2806700"/>
            <a:ext cx="4025900" cy="632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회원가입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2806700"/>
            <a:ext cx="2921000" cy="6324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33000" y="2882900"/>
            <a:ext cx="2717800" cy="617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119100" y="3073400"/>
            <a:ext cx="3759200" cy="5981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auth.createUserWithEmailAndPassword(email, password)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.addOnSuccessListener(result -&gt;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Toast.makeText(this, "Sign-up successful!", Toast.LENGTH_SHORT).show();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startActivity(new Intent(this, LoginActivity.class));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finish();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})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.addOnFailureListener(e -&gt;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String message = e.getMessage();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if (message != null &amp;&amp; message.contains("email address is already in use"))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Toast.makeText(this, "This ID is already in use. Please choose a different one.", Toast.LENGTH_SHORT).show();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} else {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Toast.makeText(this, "Sign-up failed: " + message, Toast.LENGTH_LONG).show();</a:t>
            </a:r>
          </a:p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97500" y="4572000"/>
            <a:ext cx="4419600" cy="304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먼저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아이디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(Username)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비밀번호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(6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자리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입력하여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생성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Firebase Authentication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정보가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회원가입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곧바로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화면으로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이메일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인증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없이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간단한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입력만으로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계정을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만들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접근성이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높습니다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45593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2806700"/>
            <a:ext cx="4025900" cy="632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입장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2806700"/>
            <a:ext cx="2921000" cy="6324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0" y="2882900"/>
            <a:ext cx="2679700" cy="617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119100" y="3276600"/>
            <a:ext cx="3746500" cy="557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if (snapshot.exists()) {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// 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존재할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경우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SharedPreferences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에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저장</a:t>
            </a: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SharedPreferences sp = getSharedPreferences("AppPrefs", Context.MODE_PRIVATE);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sp.edit().putString("roomCode", inputCode).apply();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// 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기존처럼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이동</a:t>
            </a: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Intent next = new Intent(JoinRoomActivity.this, MainTabActivity.class);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next.putExtra("username", username);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next.putExtra("roomCode", inputCode);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next.putExtra("isProfessor", isProfessor);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next.putExtra("userType", isProfessor ? "Professor" : "Student");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startActivity(next);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finish();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} else {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    Toast.makeText(JoinRoomActivity.this, "Sorry, no room exists with that code.", Toast.LENGTH_SHORT).show();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                }</a:t>
            </a: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397500" y="4445000"/>
            <a:ext cx="4419600" cy="330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교수님이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만든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(Room Code)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수업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입장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Firebase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검증되며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존재하지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않는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자동으로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거부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권한에는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생성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기능이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있지만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학생은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항상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방에만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입장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가능하도록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설계되어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보안성과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구조적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분리를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강화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45593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2806700"/>
            <a:ext cx="4025900" cy="632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2806700"/>
            <a:ext cx="2921000" cy="6324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0" y="2882900"/>
            <a:ext cx="2679700" cy="617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119100" y="4368800"/>
            <a:ext cx="3746500" cy="339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public Question(String content, String author) {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this.content = content;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this.author = author;  // 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실제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사용자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이름</a:t>
            </a: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 </a:t>
            </a:r>
            <a:r>
              <a:rPr lang="ko-KR" sz="1300" b="0" i="0" u="none" strike="noStrike">
                <a:solidFill>
                  <a:srgbClr val="F7F6F5"/>
                </a:solidFill>
                <a:ea typeface="Pretendard Regular"/>
              </a:rPr>
              <a:t>저장</a:t>
            </a: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this.pinned = false;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this.createdAt = System.currentTimeMillis();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}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public void setKey(String k) {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this.key = k;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}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public String getKey() {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return key;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}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public void toggleLike(String user) {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if (user == null) return;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if (likers.contains(user)) likers.remove(user);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    else likers.add(user);</a:t>
            </a:r>
          </a:p>
          <a:p>
            <a:pPr lvl="0" algn="l">
              <a:lnSpc>
                <a:spcPct val="99600"/>
              </a:lnSpc>
            </a:pPr>
            <a:r>
              <a:rPr lang="en-US" sz="1300" b="0" i="0" u="none" strike="noStrike">
                <a:solidFill>
                  <a:srgbClr val="F7F6F5"/>
                </a:solidFill>
                <a:latin typeface="Pretendard Regular"/>
              </a:rPr>
              <a:t>    }</a:t>
            </a: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1300" b="0" i="0" u="none" strike="noStrike">
              <a:solidFill>
                <a:srgbClr val="F7F6F5"/>
              </a:solidFill>
              <a:latin typeface="Pretendard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397500" y="4216400"/>
            <a:ext cx="4419600" cy="374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익명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(anonymous)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표시되며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실명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대신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익명으로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자유롭게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질문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글마다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좋아요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존재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본인이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연한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회색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배경으로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표시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삭제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댓글은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있고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Firebase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연동으로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즉시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반영</a:t>
            </a:r>
          </a:p>
          <a:p>
            <a:pPr lvl="0" algn="l">
              <a:lnSpc>
                <a:spcPct val="99600"/>
              </a:lnSpc>
            </a:pPr>
            <a:endParaRPr lang="ko-KR" sz="23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실명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부담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없이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참여할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구조로</a:t>
            </a: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학생들의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적극적인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소통을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유도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36576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2692400"/>
            <a:ext cx="7848600" cy="654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해시함수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익명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372100" y="4876800"/>
            <a:ext cx="3581400" cy="215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ID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노출하지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않고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SHA-256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해시값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앞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8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글자를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활용하여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고유한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익명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ID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생성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계정끼리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익명성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보장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교수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계정으로는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실명화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66300" y="3060700"/>
            <a:ext cx="6604000" cy="58039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36576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2692400"/>
            <a:ext cx="7848600" cy="654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욕설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필터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372100" y="4699000"/>
            <a:ext cx="3581400" cy="251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금지어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리스트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기반으로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질문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답변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비속어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포함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차단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악성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대응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시큐어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코딩의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핵심인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(Input Validation)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적용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80600" y="3060700"/>
            <a:ext cx="6362700" cy="6019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431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431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431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431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431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431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431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11300" y="2108200"/>
            <a:ext cx="266700" cy="3302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3238500"/>
            <a:ext cx="3302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85900" y="4978400"/>
            <a:ext cx="292100" cy="304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98600" y="2705100"/>
            <a:ext cx="317500" cy="266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22400" y="5473700"/>
            <a:ext cx="419100" cy="4191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36576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2692400"/>
            <a:ext cx="7848600" cy="654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AES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암호화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23900" y="2374900"/>
            <a:ext cx="3111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33500" y="2476500"/>
            <a:ext cx="2463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14400" y="2489200"/>
            <a:ext cx="457200" cy="406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372100" y="4000500"/>
            <a:ext cx="3581400" cy="391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하드코딩된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Professor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비밀번호를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AES ECB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모드로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암호화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평문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방지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유출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시에도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즉각적인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계정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보호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인증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로직과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암호화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유지보수성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Firebase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인증과의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이중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보안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체계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형성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학생은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Firebase,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교수는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AES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0" y="3263900"/>
            <a:ext cx="7848600" cy="5397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114808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ProGuard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미적용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5372100" y="3949700"/>
            <a:ext cx="11391900" cy="398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릴리즈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APK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ProGuard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적용하지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않으면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코드가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쉽게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디컴파일되어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클래스명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메서드명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변수명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중요한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정보가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</a:p>
          <a:p>
            <a:pPr lvl="1" algn="l">
              <a:lnSpc>
                <a:spcPct val="99600"/>
              </a:lnSpc>
            </a:pPr>
            <a:endParaRPr lang="ko-KR" sz="32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예를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들어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 LoginActivity, MainTabActivity, roomCode, isProfessor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같은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민감한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문자열이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그대로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</a:p>
          <a:p>
            <a:pPr lvl="1" algn="l">
              <a:lnSpc>
                <a:spcPct val="99600"/>
              </a:lnSpc>
            </a:pPr>
            <a:endParaRPr lang="ko-KR" sz="32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방지하기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isMinifyEnabled = true, isShrinkResources = true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설정을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통해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코드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난독화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및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리소스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최적화를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적용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5900" y="2692400"/>
            <a:ext cx="114808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디버깅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설정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9" name="Picture 19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613400" y="3162300"/>
            <a:ext cx="10795000" cy="607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5900" y="2692400"/>
            <a:ext cx="114808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인텐트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리다이렉션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9" name="Picture 19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765800" y="3111500"/>
            <a:ext cx="10579100" cy="5956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2692400"/>
            <a:ext cx="11480800" cy="654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3400" y="2374900"/>
            <a:ext cx="2743200" cy="63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19800" y="2501900"/>
            <a:ext cx="2463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XSS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취약점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6600" y="2463800"/>
            <a:ext cx="4699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5372100" y="4203700"/>
            <a:ext cx="11391900" cy="349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앱의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질문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댓글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입력창에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&lt;script&gt;alert(1)&lt;/script&gt;, &lt;img src=x onerror=alert(1)&gt;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XSS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페이로드를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시도했으나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lvl="1" algn="l">
              <a:lnSpc>
                <a:spcPct val="99600"/>
              </a:lnSpc>
            </a:pPr>
            <a:endParaRPr lang="en-US" sz="3200" b="0" i="0" u="none" strike="noStrike">
              <a:solidFill>
                <a:srgbClr val="000000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Firebase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데이터가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TextView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그대로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출력되어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브라우저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환경이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아니므로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스크립트가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실행되지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않음</a:t>
            </a:r>
          </a:p>
          <a:p>
            <a:pPr lvl="1" algn="l">
              <a:lnSpc>
                <a:spcPct val="99600"/>
              </a:lnSpc>
            </a:pPr>
            <a:endParaRPr lang="ko-KR" sz="32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F44747"/>
              </a:buClr>
              <a:buFont typeface="Arial"/>
              <a:buChar char="●"/>
            </a:pP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즉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,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현재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구조에서는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XSS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가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발생하지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않음을</a:t>
            </a:r>
            <a:r>
              <a:rPr lang="en-US" sz="3200" b="0" i="0" u="none" strike="noStrike">
                <a:solidFill>
                  <a:srgbClr val="F44747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F44747"/>
                </a:solidFill>
                <a:ea typeface="Pretendard Regular"/>
              </a:rPr>
              <a:t>확인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273800" y="1447800"/>
            <a:ext cx="6819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코딩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242300" y="825500"/>
            <a:ext cx="6667500" cy="247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3900" b="0" i="0" u="none" strike="noStrike" spc="-200">
                <a:solidFill>
                  <a:srgbClr val="000000"/>
                </a:solidFill>
                <a:ea typeface="Pretendard Bold"/>
              </a:rPr>
              <a:t>앱</a:t>
            </a:r>
            <a:r>
              <a:rPr lang="en-US" sz="13900" b="0" i="0" u="none" strike="noStrike" spc="-2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3900" b="0" i="0" u="none" strike="noStrike" spc="-200">
                <a:solidFill>
                  <a:srgbClr val="000000"/>
                </a:solidFill>
                <a:ea typeface="Pretendard Bold"/>
              </a:rPr>
              <a:t>시연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시연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마무리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3429000"/>
            <a:ext cx="3835400" cy="4965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73800" y="1447800"/>
            <a:ext cx="46482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WBS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간트차트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231900"/>
            <a:ext cx="1244600" cy="1244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마무리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49800" y="2311400"/>
            <a:ext cx="12839700" cy="7226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28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48400" y="1498600"/>
            <a:ext cx="46482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마무리</a:t>
            </a:r>
            <a:r>
              <a:rPr lang="en-US" sz="4800" b="0" i="0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800" b="0" i="0" u="none" strike="noStrike" spc="-100">
                <a:solidFill>
                  <a:srgbClr val="000000"/>
                </a:solidFill>
                <a:ea typeface="Pretendard Bold"/>
              </a:rPr>
              <a:t>멘트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0500" y="8712200"/>
            <a:ext cx="259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5C5C5C"/>
                </a:solidFill>
                <a:latin typeface="Pretendard ExtraLight"/>
              </a:rPr>
              <a:t>Askoo 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0400" y="2120900"/>
            <a:ext cx="1765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진행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순서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5900" y="1435100"/>
            <a:ext cx="2590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객지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0400" y="2679700"/>
            <a:ext cx="28702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프로젝트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배경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소개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목적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30400" y="38100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기능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및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설명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시큐어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앱</a:t>
            </a:r>
            <a:r>
              <a:rPr lang="en-US" sz="19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ExtraLight"/>
              </a:rPr>
              <a:t>시연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마무리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0500" y="4381500"/>
            <a:ext cx="330200" cy="254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0500" y="3822700"/>
            <a:ext cx="304800" cy="317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200" y="4978400"/>
            <a:ext cx="292100" cy="304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09700" y="5473700"/>
            <a:ext cx="419100" cy="419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16500" y="1244600"/>
            <a:ext cx="1308100" cy="13081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93200" y="5156200"/>
            <a:ext cx="3111500" cy="76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77700" y="5105400"/>
            <a:ext cx="203200" cy="2032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21800" y="6184900"/>
            <a:ext cx="2895600" cy="76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077700" y="6134100"/>
            <a:ext cx="203200" cy="2032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25000" y="7188200"/>
            <a:ext cx="2692400" cy="76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077700" y="7124700"/>
            <a:ext cx="203200" cy="2032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04400" y="8216900"/>
            <a:ext cx="2413000" cy="76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077700" y="8153400"/>
            <a:ext cx="203200" cy="20320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37600" y="4140200"/>
            <a:ext cx="3479800" cy="76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077700" y="4089400"/>
            <a:ext cx="203200" cy="203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3556000"/>
            <a:ext cx="6210300" cy="51943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2649200" y="3733800"/>
            <a:ext cx="3289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난이도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완성도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649200" y="4191000"/>
            <a:ext cx="51308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단순한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코딩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뿐만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아니라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보안적으로도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탄탄한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앱을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개발함으로써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자체적으로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난이도를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높이고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완성도를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올렸습니다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649200" y="4775200"/>
            <a:ext cx="3289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참신성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649200" y="5130800"/>
            <a:ext cx="4991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수업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시간에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실시간으로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질의응답이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어렵다는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현실적인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문제에서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출발했고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실제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수업에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적용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가능한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실용적이고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차별화된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앱을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구현했습니다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636500" y="5981700"/>
            <a:ext cx="3594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심미성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636500" y="6375400"/>
            <a:ext cx="49911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Figma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디자인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툴까지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공부해가며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디자인에도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신경을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많이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썼습니다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폰트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하나하나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신중하게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골랐습니다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. 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636500" y="7035800"/>
            <a:ext cx="39878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객체지향언어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개념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이해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활용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636500" y="7505700"/>
            <a:ext cx="4991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수업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시간에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배운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내용을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최대한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활용하려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노력했습니다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636500" y="8102600"/>
            <a:ext cx="3289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발표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SemiBold"/>
              </a:rPr>
              <a:t>시연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649200" y="8547100"/>
            <a:ext cx="4991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실제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수업과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연계해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객체지향언어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수업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10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주차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방을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만들고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수강생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계정으로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예상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질문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25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개를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직접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등록해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실시간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시연을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ExtraLight"/>
              </a:rPr>
              <a:t>준비했습니다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ExtraLight"/>
              </a:rPr>
              <a:t>.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  <a:effectLst>
            <a:outerShdw blurRad="530331" dist="71003" dir="2700000">
              <a:srgbClr val="000000">
                <a:alpha val="18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8572500"/>
            <a:ext cx="17233900" cy="1181100"/>
          </a:xfrm>
          <a:prstGeom prst="rect">
            <a:avLst/>
          </a:prstGeom>
          <a:effectLst>
            <a:outerShdw blurRad="62864" dist="9110" dir="5400000">
              <a:srgbClr val="000000">
                <a:alpha val="12000"/>
              </a:srgbClr>
            </a:outerShdw>
          </a:effectLst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  <a:effectLst>
            <a:outerShdw blurRad="717" dist="2610" dir="2700000">
              <a:srgbClr val="000000">
                <a:alpha val="28000"/>
              </a:srgbClr>
            </a:outerShdw>
          </a:effectLst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912100" y="2476500"/>
            <a:ext cx="2463800" cy="2463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009900" y="5156200"/>
            <a:ext cx="122809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700" b="0" i="0" u="none" strike="noStrike" spc="-100">
                <a:solidFill>
                  <a:srgbClr val="000000"/>
                </a:solidFill>
                <a:ea typeface="Pretendard Bold"/>
              </a:rPr>
              <a:t>감사합니다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21300" y="6515100"/>
            <a:ext cx="76327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100">
                <a:solidFill>
                  <a:srgbClr val="B5B5B5"/>
                </a:solidFill>
                <a:latin typeface="Pretendard Regular"/>
              </a:rPr>
              <a:t>Askoo 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0100" y="8966200"/>
            <a:ext cx="40005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940"/>
              </a:lnSpc>
            </a:pPr>
            <a:r>
              <a:rPr lang="en-US" sz="2100" b="0" i="0" u="none" strike="noStrike" spc="700">
                <a:solidFill>
                  <a:srgbClr val="CCCBCA"/>
                </a:solidFill>
                <a:latin typeface="Pretendard Bold"/>
              </a:rPr>
              <a:t>Qube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15"/>
          <p:cNvSpPr txBox="1"/>
          <p:nvPr/>
        </p:nvSpPr>
        <p:spPr>
          <a:xfrm>
            <a:off x="2273300" y="8940800"/>
            <a:ext cx="21082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5C5C5C"/>
                </a:solidFill>
                <a:latin typeface="Pretendard Regular"/>
              </a:rPr>
              <a:t>2025.06.23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100" y="8940800"/>
            <a:ext cx="419100" cy="419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741400" y="8940800"/>
            <a:ext cx="3606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5C5C5C"/>
                </a:solidFill>
                <a:ea typeface="Pretendard Regular"/>
              </a:rPr>
              <a:t>융합보안학과</a:t>
            </a:r>
            <a:r>
              <a:rPr lang="en-US" sz="2300" b="0" i="0" u="none" strike="noStrike">
                <a:solidFill>
                  <a:srgbClr val="5C5C5C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5C5C5C"/>
                </a:solidFill>
                <a:ea typeface="Pretendard Regular"/>
              </a:rPr>
              <a:t>유예지</a:t>
            </a:r>
            <a:r>
              <a:rPr lang="en-US" sz="2300" b="0" i="0" u="none" strike="noStrike">
                <a:solidFill>
                  <a:srgbClr val="5C5C5C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5C5C5C"/>
                </a:solidFill>
                <a:ea typeface="Pretendard Regular"/>
              </a:rPr>
              <a:t>임다은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19100" y="8940800"/>
            <a:ext cx="406400" cy="406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48100" y="990600"/>
            <a:ext cx="1066800" cy="138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2174</Words>
  <Application>Microsoft Office PowerPoint</Application>
  <PresentationFormat>사용자 지정</PresentationFormat>
  <Paragraphs>420</Paragraphs>
  <Slides>21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Calibri</vt:lpstr>
      <vt:lpstr>Pretendard ExtraLight</vt:lpstr>
      <vt:lpstr>Pretendard Black</vt:lpstr>
      <vt:lpstr>Pretendard Bold</vt:lpstr>
      <vt:lpstr>Pretendard Light</vt:lpstr>
      <vt:lpstr>Pretendard Regular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유예지</cp:lastModifiedBy>
  <cp:revision>3</cp:revision>
  <dcterms:created xsi:type="dcterms:W3CDTF">2006-08-16T00:00:00Z</dcterms:created>
  <dcterms:modified xsi:type="dcterms:W3CDTF">2025-06-17T16:28:21Z</dcterms:modified>
</cp:coreProperties>
</file>